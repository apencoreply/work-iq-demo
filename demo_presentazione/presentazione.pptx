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58"/>
  </p:normalViewPr>
  <p:slideViewPr>
    <p:cSldViewPr snapToGrid="0" snapToObjects="1">
      <p:cViewPr varScale="1">
        <p:scale>
          <a:sx n="120" d="100"/>
          <a:sy n="120" d="100"/>
        </p:scale>
        <p:origin x="800" y="1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2D6A2E"/>
            </a:gs>
            <a:gs pos="100000">
              <a:srgbClr val="76B82A"/>
            </a:gs>
          </a:gsLst>
          <a:lin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371600" y="2011680"/>
            <a:ext cx="7315200" cy="2560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5200" b="1">
                <a:solidFill>
                  <a:srgbClr val="FFFFFF"/>
                </a:solidFill>
                <a:latin typeface="Arial Black"/>
              </a:rPr>
              <a:t>WORK IQ
DEMO
COMPARATIVA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4754880"/>
            <a:ext cx="73152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800" b="0">
                <a:solidFill>
                  <a:srgbClr val="FFFFFF"/>
                </a:solidFill>
                <a:latin typeface="Arial"/>
              </a:rPr>
              <a:t>4 livelli di intelligenza — Stesso prompt, risposte diverse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5394960"/>
            <a:ext cx="73152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0">
                <a:solidFill>
                  <a:srgbClr val="BBDDBB"/>
                </a:solidFill>
                <a:latin typeface="Arial"/>
              </a:rPr>
              <a:t>1 Giugno 2026 · Copilot Studio + Work IQ MCP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0" y="731520"/>
            <a:ext cx="12191695" cy="64008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3000" b="1">
                <a:solidFill>
                  <a:srgbClr val="1A1A1A"/>
                </a:solidFill>
                <a:latin typeface="Arial Black"/>
              </a:rPr>
              <a:t>AGENDA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438247" y="2011680"/>
            <a:ext cx="7315200" cy="4114800"/>
          </a:xfrm>
          <a:prstGeom prst="rect">
            <a:avLst/>
          </a:prstGeom>
          <a:noFill/>
        </p:spPr>
        <p:txBody>
          <a:bodyPr wrap="square"/>
          <a:lstStyle/>
          <a:p>
            <a:pPr>
              <a:spcAft>
                <a:spcPts val="0"/>
              </a:spcAft>
            </a:pPr>
            <a:endParaRPr/>
          </a:p>
          <a:p>
            <a:pPr algn="l">
              <a:spcBef>
                <a:spcPts val="0"/>
              </a:spcBef>
              <a:spcAft>
                <a:spcPts val="1800"/>
              </a:spcAft>
            </a:pPr>
            <a:r>
              <a:rPr sz="2400" b="1" i="0">
                <a:solidFill>
                  <a:srgbClr val="76B82A"/>
                </a:solidFill>
                <a:latin typeface="Arial Black"/>
              </a:rPr>
              <a:t>1   </a:t>
            </a:r>
            <a:r>
              <a:rPr sz="1800" b="0" i="0">
                <a:solidFill>
                  <a:srgbClr val="1A1A1A"/>
                </a:solidFill>
                <a:latin typeface="Arial"/>
              </a:rPr>
              <a:t>La sfida: perché un LLM generico non basta</a:t>
            </a:r>
          </a:p>
          <a:p>
            <a:pPr algn="l">
              <a:spcBef>
                <a:spcPts val="0"/>
              </a:spcBef>
              <a:spcAft>
                <a:spcPts val="1800"/>
              </a:spcAft>
            </a:pPr>
            <a:r>
              <a:rPr sz="2400" b="1" i="0">
                <a:solidFill>
                  <a:srgbClr val="76B82A"/>
                </a:solidFill>
                <a:latin typeface="Arial Black"/>
              </a:rPr>
              <a:t>2   </a:t>
            </a:r>
            <a:r>
              <a:rPr sz="1800" b="0" i="0">
                <a:solidFill>
                  <a:srgbClr val="1A1A1A"/>
                </a:solidFill>
                <a:latin typeface="Arial"/>
              </a:rPr>
              <a:t>Setup: 4 agenti a confronto</a:t>
            </a:r>
          </a:p>
          <a:p>
            <a:pPr algn="l">
              <a:spcBef>
                <a:spcPts val="0"/>
              </a:spcBef>
              <a:spcAft>
                <a:spcPts val="1800"/>
              </a:spcAft>
            </a:pPr>
            <a:r>
              <a:rPr sz="2400" b="1" i="0">
                <a:solidFill>
                  <a:srgbClr val="76B82A"/>
                </a:solidFill>
                <a:latin typeface="Arial Black"/>
              </a:rPr>
              <a:t>3   </a:t>
            </a:r>
            <a:r>
              <a:rPr sz="1800" b="0" i="0">
                <a:solidFill>
                  <a:srgbClr val="1A1A1A"/>
                </a:solidFill>
                <a:latin typeface="Arial"/>
              </a:rPr>
              <a:t>Prompt 1 — Preparazione alla riunione</a:t>
            </a:r>
          </a:p>
          <a:p>
            <a:pPr algn="l">
              <a:spcBef>
                <a:spcPts val="0"/>
              </a:spcBef>
              <a:spcAft>
                <a:spcPts val="1800"/>
              </a:spcAft>
            </a:pPr>
            <a:r>
              <a:rPr sz="2400" b="1" i="0">
                <a:solidFill>
                  <a:srgbClr val="76B82A"/>
                </a:solidFill>
                <a:latin typeface="Arial Black"/>
              </a:rPr>
              <a:t>4   </a:t>
            </a:r>
            <a:r>
              <a:rPr sz="1800" b="0" i="0">
                <a:solidFill>
                  <a:srgbClr val="1A1A1A"/>
                </a:solidFill>
                <a:latin typeface="Arial"/>
              </a:rPr>
              <a:t>Prompt 2 — Riassunto email non lette</a:t>
            </a:r>
          </a:p>
          <a:p>
            <a:pPr algn="l">
              <a:spcBef>
                <a:spcPts val="0"/>
              </a:spcBef>
              <a:spcAft>
                <a:spcPts val="1800"/>
              </a:spcAft>
            </a:pPr>
            <a:r>
              <a:rPr sz="2400" b="1" i="0">
                <a:solidFill>
                  <a:srgbClr val="76B82A"/>
                </a:solidFill>
                <a:latin typeface="Arial Black"/>
              </a:rPr>
              <a:t>5   </a:t>
            </a:r>
            <a:r>
              <a:rPr sz="1800" b="0" i="0">
                <a:solidFill>
                  <a:srgbClr val="1A1A1A"/>
                </a:solidFill>
                <a:latin typeface="Arial"/>
              </a:rPr>
              <a:t>Prompt 3 — Azione: invio email</a:t>
            </a:r>
          </a:p>
          <a:p>
            <a:pPr algn="l">
              <a:spcBef>
                <a:spcPts val="0"/>
              </a:spcBef>
              <a:spcAft>
                <a:spcPts val="1800"/>
              </a:spcAft>
            </a:pPr>
            <a:r>
              <a:rPr sz="2400" b="1" i="0">
                <a:solidFill>
                  <a:srgbClr val="76B82A"/>
                </a:solidFill>
                <a:latin typeface="Arial Black"/>
              </a:rPr>
              <a:t>6   </a:t>
            </a:r>
            <a:r>
              <a:rPr sz="1800" b="0" i="0">
                <a:solidFill>
                  <a:srgbClr val="1A1A1A"/>
                </a:solidFill>
                <a:latin typeface="Arial"/>
              </a:rPr>
              <a:t>Riepilogo e messaggi chiave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0" y="2560320"/>
            <a:ext cx="12191695" cy="82296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4000" b="1">
                <a:solidFill>
                  <a:srgbClr val="76B82A"/>
                </a:solidFill>
                <a:latin typeface="Arial Black"/>
              </a:rPr>
              <a:t>LA SFIDA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28800" y="3657600"/>
            <a:ext cx="8503920" cy="13716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2000" b="0">
                <a:solidFill>
                  <a:srgbClr val="555555"/>
                </a:solidFill>
                <a:latin typeface="Arial"/>
              </a:rPr>
              <a:t>Un modello linguistico senza contesto aziendale è come un consulente brillante che non ha mai visto i tuoi dati.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371600" y="2011680"/>
            <a:ext cx="9418320" cy="32004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Aft>
                <a:spcPts val="0"/>
              </a:spcAft>
            </a:pPr>
            <a:r>
              <a:rPr sz="4200" b="1" i="0">
                <a:solidFill>
                  <a:srgbClr val="FFFFFF"/>
                </a:solidFill>
                <a:latin typeface="Arial Black"/>
              </a:rPr>
              <a:t>SENZA CONTESTO,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4200" b="1" i="0">
                <a:solidFill>
                  <a:srgbClr val="FFFFFF"/>
                </a:solidFill>
                <a:latin typeface="Arial Black"/>
              </a:rPr>
              <a:t>L'AI </a:t>
            </a:r>
            <a:r>
              <a:rPr sz="4200" b="1" i="0">
                <a:solidFill>
                  <a:srgbClr val="76B82A"/>
                </a:solidFill>
                <a:latin typeface="Arial Black"/>
              </a:rPr>
              <a:t>NON SERVE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4200" b="1" i="0">
                <a:solidFill>
                  <a:srgbClr val="FFFFFF"/>
                </a:solidFill>
                <a:latin typeface="Arial Black"/>
              </a:rPr>
              <a:t>IN AZIENDA.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0" y="457200"/>
            <a:ext cx="12191695" cy="54864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2400" b="1">
                <a:solidFill>
                  <a:srgbClr val="1A1A1A"/>
                </a:solidFill>
                <a:latin typeface="Arial Black"/>
              </a:rPr>
              <a:t>I 4 LIVELLI DI INTELLIGENZA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1005840"/>
            <a:ext cx="12191695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200" b="1">
                <a:solidFill>
                  <a:srgbClr val="555555"/>
                </a:solidFill>
                <a:latin typeface="Arial Black"/>
              </a:rPr>
              <a:t>STESSO PROMPT, CAPACITÀ CRESCENTI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78027" y="1645920"/>
            <a:ext cx="2468880" cy="4572000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678027" y="1645920"/>
            <a:ext cx="2468880" cy="109728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78027" y="2103120"/>
            <a:ext cx="2468880" cy="73152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3600" b="1">
                <a:solidFill>
                  <a:srgbClr val="E8E8E8"/>
                </a:solidFill>
                <a:latin typeface="Arial Black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15187" y="2926080"/>
            <a:ext cx="219456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300" b="1">
                <a:solidFill>
                  <a:srgbClr val="1A1A1A"/>
                </a:solidFill>
                <a:latin typeface="Arial Black"/>
              </a:rPr>
              <a:t>BASE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6627" y="3566160"/>
            <a:ext cx="2011680" cy="146304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100" b="0">
                <a:solidFill>
                  <a:srgbClr val="555555"/>
                </a:solidFill>
                <a:latin typeface="Arial"/>
              </a:rPr>
              <a:t>Solo LLM generico.
Nessun tool, nessun dato.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06627" y="5212080"/>
            <a:ext cx="2011680" cy="64008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900" b="0">
                <a:solidFill>
                  <a:srgbClr val="555555"/>
                </a:solidFill>
                <a:latin typeface="Arial"/>
              </a:rPr>
              <a:t>—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66947" y="1645920"/>
            <a:ext cx="2468880" cy="4572000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3466947" y="1645920"/>
            <a:ext cx="2468880" cy="109728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466947" y="2103120"/>
            <a:ext cx="2468880" cy="73152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3600" b="1">
                <a:solidFill>
                  <a:srgbClr val="E8E8E8"/>
                </a:solidFill>
                <a:latin typeface="Arial Black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04107" y="2926080"/>
            <a:ext cx="219456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300" b="1">
                <a:solidFill>
                  <a:srgbClr val="1A1A1A"/>
                </a:solidFill>
                <a:latin typeface="Arial Black"/>
              </a:rPr>
              <a:t>CONNESSIONI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95547" y="3566160"/>
            <a:ext cx="2011680" cy="146304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100" b="0">
                <a:solidFill>
                  <a:srgbClr val="555555"/>
                </a:solidFill>
                <a:latin typeface="Arial"/>
              </a:rPr>
              <a:t>Accesso diretto a dati
Microsoft 365.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95547" y="5212080"/>
            <a:ext cx="2011680" cy="64008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900" b="0">
                <a:solidFill>
                  <a:srgbClr val="555555"/>
                </a:solidFill>
                <a:latin typeface="Arial"/>
              </a:rPr>
              <a:t>Mail · Calendar · User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55867" y="1645920"/>
            <a:ext cx="2468880" cy="4572000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6255867" y="1645920"/>
            <a:ext cx="2468880" cy="109728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255867" y="2103120"/>
            <a:ext cx="2468880" cy="73152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3600" b="1">
                <a:solidFill>
                  <a:srgbClr val="E8E8E8"/>
                </a:solidFill>
                <a:latin typeface="Arial Black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93027" y="2926080"/>
            <a:ext cx="219456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300" b="1">
                <a:solidFill>
                  <a:srgbClr val="1A1A1A"/>
                </a:solidFill>
                <a:latin typeface="Arial Black"/>
              </a:rPr>
              <a:t>WORK IQ COPILOT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84467" y="3566160"/>
            <a:ext cx="2011680" cy="146304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100" b="0">
                <a:solidFill>
                  <a:srgbClr val="555555"/>
                </a:solidFill>
                <a:latin typeface="Arial"/>
              </a:rPr>
              <a:t>Semantic Index: capisce
il contesto nel tempo.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84467" y="5212080"/>
            <a:ext cx="2011680" cy="64008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900" b="0">
                <a:solidFill>
                  <a:srgbClr val="555555"/>
                </a:solidFill>
                <a:latin typeface="Arial"/>
              </a:rPr>
              <a:t>Semantic Index · Memory
Cross-app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044787" y="1645920"/>
            <a:ext cx="2468880" cy="4572000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9044787" y="1645920"/>
            <a:ext cx="2468880" cy="109728"/>
          </a:xfrm>
          <a:prstGeom prst="rect">
            <a:avLst/>
          </a:prstGeom>
          <a:solidFill>
            <a:srgbClr val="76B8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9044787" y="2103120"/>
            <a:ext cx="2468880" cy="73152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3600" b="1">
                <a:solidFill>
                  <a:srgbClr val="E8E8E8"/>
                </a:solidFill>
                <a:latin typeface="Arial Black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81947" y="2926080"/>
            <a:ext cx="219456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300" b="1">
                <a:solidFill>
                  <a:srgbClr val="1A1A1A"/>
                </a:solidFill>
                <a:latin typeface="Arial Black"/>
              </a:rPr>
              <a:t>COMPLETO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273387" y="3566160"/>
            <a:ext cx="2011680" cy="146304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100" b="0">
                <a:solidFill>
                  <a:srgbClr val="555555"/>
                </a:solidFill>
                <a:latin typeface="Arial"/>
              </a:rPr>
              <a:t>Intelligenza profonda +
accesso diretto. Capisce e agisce.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273387" y="5212080"/>
            <a:ext cx="2011680" cy="64008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900" b="0">
                <a:solidFill>
                  <a:srgbClr val="555555"/>
                </a:solidFill>
                <a:latin typeface="Arial"/>
              </a:rPr>
              <a:t>Copilot + Mail + Calendar + User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0" y="2560320"/>
            <a:ext cx="12191695" cy="82296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4000" b="1">
                <a:solidFill>
                  <a:srgbClr val="76B82A"/>
                </a:solidFill>
                <a:latin typeface="Arial Black"/>
              </a:rPr>
              <a:t>PROMPT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28800" y="3657600"/>
            <a:ext cx="8503920" cy="13716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2000" b="0">
                <a:solidFill>
                  <a:srgbClr val="555555"/>
                </a:solidFill>
                <a:latin typeface="Arial"/>
              </a:rPr>
              <a:t>"Cosa devo sapere prima della mia prossima riunione?"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0" y="457200"/>
            <a:ext cx="12191695" cy="54864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2400" b="1">
                <a:solidFill>
                  <a:srgbClr val="1A1A1A"/>
                </a:solidFill>
                <a:latin typeface="Arial Black"/>
              </a:rPr>
              <a:t>PROMPT 1 — RISPOSTE A CONFRONTO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1005840"/>
            <a:ext cx="12191695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200" b="1">
                <a:solidFill>
                  <a:srgbClr val="555555"/>
                </a:solidFill>
                <a:latin typeface="Arial Black"/>
              </a:rPr>
              <a:t>BASE vs CONNESSIONI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6607" y="1554480"/>
            <a:ext cx="5120640" cy="411480"/>
          </a:xfrm>
          <a:prstGeom prst="rect">
            <a:avLst/>
          </a:prstGeom>
          <a:noFill/>
        </p:spPr>
        <p:txBody>
          <a:bodyPr wrap="square"/>
          <a:lstStyle/>
          <a:p>
            <a:pPr>
              <a:spcAft>
                <a:spcPts val="0"/>
              </a:spcAft>
            </a:pPr>
            <a:r>
              <a:rPr sz="1600" b="1" i="0">
                <a:solidFill>
                  <a:srgbClr val="EF4444"/>
                </a:solidFill>
                <a:latin typeface="Arial"/>
              </a:rPr>
              <a:t>🔴  1  AGENTE BASE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46607" y="2011680"/>
            <a:ext cx="5120640" cy="3840480"/>
          </a:xfrm>
          <a:prstGeom prst="roundRect">
            <a:avLst/>
          </a:prstGeom>
          <a:solidFill>
            <a:srgbClr val="F5F5F5"/>
          </a:solidFill>
          <a:ln w="2540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746607" y="2011680"/>
            <a:ext cx="73152" cy="384048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66647" y="2286000"/>
            <a:ext cx="4480560" cy="32918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0">
                <a:solidFill>
                  <a:srgbClr val="1A1A1A"/>
                </a:solidFill>
                <a:latin typeface="Arial"/>
              </a:rPr>
              <a:t>Non risultano informazioni specifiche sulla tua prossima riunione nei dati disponibili. Per offrirti un briefing completo, avrei bisogno di dettagli come l'orario, i partecipanti o l'argomento della riunione.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6607" y="5961888"/>
            <a:ext cx="512064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>
                <a:solidFill>
                  <a:srgbClr val="EF4444"/>
                </a:solidFill>
                <a:latin typeface="Arial"/>
              </a:rPr>
              <a:t>🔴 Educato ma inutile. Non sa nulla.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24447" y="1554480"/>
            <a:ext cx="5120640" cy="411480"/>
          </a:xfrm>
          <a:prstGeom prst="rect">
            <a:avLst/>
          </a:prstGeom>
          <a:noFill/>
        </p:spPr>
        <p:txBody>
          <a:bodyPr wrap="square"/>
          <a:lstStyle/>
          <a:p>
            <a:pPr>
              <a:spcAft>
                <a:spcPts val="0"/>
              </a:spcAft>
            </a:pPr>
            <a:r>
              <a:rPr sz="1600" b="1" i="0">
                <a:solidFill>
                  <a:srgbClr val="F59E0B"/>
                </a:solidFill>
                <a:latin typeface="Arial"/>
              </a:rPr>
              <a:t>🟡  2  CONNESSIONI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24447" y="2011680"/>
            <a:ext cx="5120640" cy="3840480"/>
          </a:xfrm>
          <a:prstGeom prst="roundRect">
            <a:avLst/>
          </a:prstGeom>
          <a:solidFill>
            <a:srgbClr val="F5F5F5"/>
          </a:solidFill>
          <a:ln w="254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6324447" y="2011680"/>
            <a:ext cx="73152" cy="384048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644487" y="2286000"/>
            <a:ext cx="4480560" cy="32918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0">
                <a:solidFill>
                  <a:srgbClr val="1A1A1A"/>
                </a:solidFill>
                <a:latin typeface="Arial"/>
              </a:rPr>
              <a:t>Horizon 3.0 - Stand up tecnico
Oggi, 09:30 – 10:00 · Microsoft Teams
Organizzatore: Marco Bianchi
Partecipanti: Elena Rossi ✓, Luca Moretti, Sara Conti, Davide Rizzo (in attesa)
Tu: accettato provvisoriamente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24447" y="5961888"/>
            <a:ext cx="512064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>
                <a:solidFill>
                  <a:srgbClr val="F59E0B"/>
                </a:solidFill>
                <a:latin typeface="Arial"/>
              </a:rPr>
              <a:t>🟡 Vede il calendario. Dati puntuali.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0" y="457200"/>
            <a:ext cx="12191695" cy="54864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2400" b="1">
                <a:solidFill>
                  <a:srgbClr val="1A1A1A"/>
                </a:solidFill>
                <a:latin typeface="Arial Black"/>
              </a:rPr>
              <a:t>PROMPT 1 — RISPOSTE A CONFRONTO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1005840"/>
            <a:ext cx="12191695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200" b="1">
                <a:solidFill>
                  <a:srgbClr val="555555"/>
                </a:solidFill>
                <a:latin typeface="Arial Black"/>
              </a:rPr>
              <a:t>WORK IQ COPILOT vs COMPLETO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6607" y="1554480"/>
            <a:ext cx="5120640" cy="411480"/>
          </a:xfrm>
          <a:prstGeom prst="rect">
            <a:avLst/>
          </a:prstGeom>
          <a:noFill/>
        </p:spPr>
        <p:txBody>
          <a:bodyPr wrap="square"/>
          <a:lstStyle/>
          <a:p>
            <a:pPr>
              <a:spcAft>
                <a:spcPts val="0"/>
              </a:spcAft>
            </a:pPr>
            <a:r>
              <a:rPr sz="1600" b="1" i="0">
                <a:solidFill>
                  <a:srgbClr val="8B5CF6"/>
                </a:solidFill>
                <a:latin typeface="Arial"/>
              </a:rPr>
              <a:t>🟣  3  WORK IQ COPILOT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46607" y="2011680"/>
            <a:ext cx="5120640" cy="3840480"/>
          </a:xfrm>
          <a:prstGeom prst="roundRect">
            <a:avLst/>
          </a:prstGeom>
          <a:solidFill>
            <a:srgbClr val="F5F5F5"/>
          </a:solidFill>
          <a:ln w="2540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746607" y="2011680"/>
            <a:ext cx="73152" cy="384048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66647" y="2286000"/>
            <a:ext cx="4480560" cy="32918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0">
                <a:solidFill>
                  <a:srgbClr val="1A1A1A"/>
                </a:solidFill>
                <a:latin typeface="Arial"/>
              </a:rPr>
              <a:t>📅 Meridian - Supply Chain Status - Weekly
Domani 08:30 – 09:00 · Microsoft Teams
Organizzatore: Paolo Gentile
🧩 Meeting di stato settimanale su Meridian / Supply Chain Platform
🔍 Parte di un filone di meeting (Phoenix Stand-Up, Horizon SAL, Atlas Weekly) — preparati su rischi e dipendenze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6607" y="5961888"/>
            <a:ext cx="512064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>
                <a:solidFill>
                  <a:srgbClr val="8B5CF6"/>
                </a:solidFill>
                <a:latin typeface="Arial"/>
              </a:rPr>
              <a:t>🟣 Analisi strutturata, contesto storico, suggerimenti proattivi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24447" y="1554480"/>
            <a:ext cx="5120640" cy="411480"/>
          </a:xfrm>
          <a:prstGeom prst="rect">
            <a:avLst/>
          </a:prstGeom>
          <a:noFill/>
        </p:spPr>
        <p:txBody>
          <a:bodyPr wrap="square"/>
          <a:lstStyle/>
          <a:p>
            <a:pPr>
              <a:spcAft>
                <a:spcPts val="0"/>
              </a:spcAft>
            </a:pPr>
            <a:r>
              <a:rPr sz="1600" b="1" i="0">
                <a:solidFill>
                  <a:srgbClr val="76B82A"/>
                </a:solidFill>
                <a:latin typeface="Arial"/>
              </a:rPr>
              <a:t>🟢  4  COMPLETO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24447" y="2011680"/>
            <a:ext cx="5120640" cy="3840480"/>
          </a:xfrm>
          <a:prstGeom prst="roundRect">
            <a:avLst/>
          </a:prstGeom>
          <a:solidFill>
            <a:srgbClr val="F5F5F5"/>
          </a:solidFill>
          <a:ln w="25400">
            <a:solidFill>
              <a:srgbClr val="76B8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6324447" y="2011680"/>
            <a:ext cx="73152" cy="3840480"/>
          </a:xfrm>
          <a:prstGeom prst="rect">
            <a:avLst/>
          </a:prstGeom>
          <a:solidFill>
            <a:srgbClr val="76B8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644487" y="2286000"/>
            <a:ext cx="4480560" cy="32918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0">
                <a:solidFill>
                  <a:srgbClr val="1A1A1A"/>
                </a:solidFill>
                <a:latin typeface="Arial"/>
              </a:rPr>
              <a:t>Horizon 3.0 - Stand up tecnico
09:30 – 10:00 · Microsoft Teams
Organizzatore: Marco Bianchi
Elena Rossi ✓ · Luca, Sara, Davide (in attesa)
Tu: tentativo
💡 Suggerimento: prepara aggiornamenti rapidi su attività Horizon 3.0 ed eventuali blocchi.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24447" y="5961888"/>
            <a:ext cx="512064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>
                <a:solidFill>
                  <a:srgbClr val="76B82A"/>
                </a:solidFill>
                <a:latin typeface="Arial"/>
              </a:rPr>
              <a:t>🟢 Dettagli operativi + stato RSVP + azioni concrete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0" y="2560320"/>
            <a:ext cx="12191695" cy="82296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4000" b="1">
                <a:solidFill>
                  <a:srgbClr val="76B82A"/>
                </a:solidFill>
                <a:latin typeface="Arial Black"/>
              </a:rPr>
              <a:t>PROMPT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28800" y="3657600"/>
            <a:ext cx="8503920" cy="13716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2000" b="0">
                <a:solidFill>
                  <a:srgbClr val="555555"/>
                </a:solidFill>
                <a:latin typeface="Arial"/>
              </a:rPr>
              <a:t>"Riassumi le email non lette più importanti di oggi."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0" y="457200"/>
            <a:ext cx="12191695" cy="54864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2400" b="1">
                <a:solidFill>
                  <a:srgbClr val="1A1A1A"/>
                </a:solidFill>
                <a:latin typeface="Arial Black"/>
              </a:rPr>
              <a:t>PROMPT 2 — RISPOSTE A CONFRONTO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1005840"/>
            <a:ext cx="12191695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200" b="1">
                <a:solidFill>
                  <a:srgbClr val="555555"/>
                </a:solidFill>
                <a:latin typeface="Arial Black"/>
              </a:rPr>
              <a:t>BASE vs CONNESSIONI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6607" y="1554480"/>
            <a:ext cx="5120640" cy="411480"/>
          </a:xfrm>
          <a:prstGeom prst="rect">
            <a:avLst/>
          </a:prstGeom>
          <a:noFill/>
        </p:spPr>
        <p:txBody>
          <a:bodyPr wrap="square"/>
          <a:lstStyle/>
          <a:p>
            <a:pPr>
              <a:spcAft>
                <a:spcPts val="0"/>
              </a:spcAft>
            </a:pPr>
            <a:r>
              <a:rPr sz="1600" b="1" i="0">
                <a:solidFill>
                  <a:srgbClr val="EF4444"/>
                </a:solidFill>
                <a:latin typeface="Arial"/>
              </a:rPr>
              <a:t>🔴  1  AGENTE BASE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46607" y="2011680"/>
            <a:ext cx="5120640" cy="3840480"/>
          </a:xfrm>
          <a:prstGeom prst="roundRect">
            <a:avLst/>
          </a:prstGeom>
          <a:solidFill>
            <a:srgbClr val="F5F5F5"/>
          </a:solidFill>
          <a:ln w="2540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746607" y="2011680"/>
            <a:ext cx="73152" cy="384048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66647" y="2286000"/>
            <a:ext cx="4480560" cy="32918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0">
                <a:solidFill>
                  <a:srgbClr val="1A1A1A"/>
                </a:solidFill>
                <a:latin typeface="Arial"/>
              </a:rPr>
              <a:t>Non risultano email non lette importanti ricevute oggi nei dati disponibili. Se hai bisogno di un riepilogo su un periodo diverso o su una categoria specifica di email, fammi sapere!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6607" y="5961888"/>
            <a:ext cx="512064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>
                <a:solidFill>
                  <a:srgbClr val="EF4444"/>
                </a:solidFill>
                <a:latin typeface="Arial"/>
              </a:rPr>
              <a:t>🔴 Nessun accesso alla mail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24447" y="1554480"/>
            <a:ext cx="5120640" cy="411480"/>
          </a:xfrm>
          <a:prstGeom prst="rect">
            <a:avLst/>
          </a:prstGeom>
          <a:noFill/>
        </p:spPr>
        <p:txBody>
          <a:bodyPr wrap="square"/>
          <a:lstStyle/>
          <a:p>
            <a:pPr>
              <a:spcAft>
                <a:spcPts val="0"/>
              </a:spcAft>
            </a:pPr>
            <a:r>
              <a:rPr sz="1600" b="1" i="0">
                <a:solidFill>
                  <a:srgbClr val="F59E0B"/>
                </a:solidFill>
                <a:latin typeface="Arial"/>
              </a:rPr>
              <a:t>🟡  2  CONNESSIONI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24447" y="2011680"/>
            <a:ext cx="5120640" cy="3840480"/>
          </a:xfrm>
          <a:prstGeom prst="roundRect">
            <a:avLst/>
          </a:prstGeom>
          <a:solidFill>
            <a:srgbClr val="F5F5F5"/>
          </a:solidFill>
          <a:ln w="254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6324447" y="2011680"/>
            <a:ext cx="73152" cy="384048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644487" y="2286000"/>
            <a:ext cx="4480560" cy="32918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0">
                <a:solidFill>
                  <a:srgbClr val="1A1A1A"/>
                </a:solidFill>
                <a:latin typeface="Arial"/>
              </a:rPr>
              <a:t>1. PR: fix_validation_pipeline into main (Azure DevOps)
2. Annullato: Sprint Review - Weekly Sync (Stefano Galli)
3. [API Gateway] Integrazione Meridian — kick-off tecnico (Francesca Colombo)
4. Analytics Dashboard [TEST] - Issue Report (errore critico)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24447" y="5961888"/>
            <a:ext cx="512064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>
                <a:solidFill>
                  <a:srgbClr val="F59E0B"/>
                </a:solidFill>
                <a:latin typeface="Arial"/>
              </a:rPr>
              <a:t>🟡 Elenca email categorizzate. Non distingue le priorità.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0" y="457200"/>
            <a:ext cx="12191695" cy="54864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2400" b="1">
                <a:solidFill>
                  <a:srgbClr val="1A1A1A"/>
                </a:solidFill>
                <a:latin typeface="Arial Black"/>
              </a:rPr>
              <a:t>PROMPT 2 — RISPOSTE A CONFRONTO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1005840"/>
            <a:ext cx="12191695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200" b="1">
                <a:solidFill>
                  <a:srgbClr val="555555"/>
                </a:solidFill>
                <a:latin typeface="Arial Black"/>
              </a:rPr>
              <a:t>WORK IQ COPILOT vs COMPLETO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6607" y="1554480"/>
            <a:ext cx="5120640" cy="411480"/>
          </a:xfrm>
          <a:prstGeom prst="rect">
            <a:avLst/>
          </a:prstGeom>
          <a:noFill/>
        </p:spPr>
        <p:txBody>
          <a:bodyPr wrap="square"/>
          <a:lstStyle/>
          <a:p>
            <a:pPr>
              <a:spcAft>
                <a:spcPts val="0"/>
              </a:spcAft>
            </a:pPr>
            <a:r>
              <a:rPr sz="1600" b="1" i="0">
                <a:solidFill>
                  <a:srgbClr val="8B5CF6"/>
                </a:solidFill>
                <a:latin typeface="Arial"/>
              </a:rPr>
              <a:t>🟣  3  WORK IQ COPILOT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46607" y="2011680"/>
            <a:ext cx="5120640" cy="3840480"/>
          </a:xfrm>
          <a:prstGeom prst="roundRect">
            <a:avLst/>
          </a:prstGeom>
          <a:solidFill>
            <a:srgbClr val="F5F5F5"/>
          </a:solidFill>
          <a:ln w="2540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746607" y="2011680"/>
            <a:ext cx="73152" cy="384048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66647" y="2286000"/>
            <a:ext cx="4480560" cy="32918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0">
                <a:solidFill>
                  <a:srgbClr val="1A1A1A"/>
                </a:solidFill>
                <a:latin typeface="Arial"/>
              </a:rPr>
              <a:t>Non risultano email non lette di oggi.
Posso però:
▪ Cercare nelle ultime 24-48 ore
▪ Includere email già lette ma rilevanti
▪ Filtrare per mittenti chiave (team Phoenix, Marco, Chiara)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6607" y="5961888"/>
            <a:ext cx="512064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>
                <a:solidFill>
                  <a:srgbClr val="8B5CF6"/>
                </a:solidFill>
                <a:latin typeface="Arial"/>
              </a:rPr>
              <a:t>🟣 Spiega il contesto, propone strategie alternative intelligenti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24447" y="1554480"/>
            <a:ext cx="5120640" cy="411480"/>
          </a:xfrm>
          <a:prstGeom prst="rect">
            <a:avLst/>
          </a:prstGeom>
          <a:noFill/>
        </p:spPr>
        <p:txBody>
          <a:bodyPr wrap="square"/>
          <a:lstStyle/>
          <a:p>
            <a:pPr>
              <a:spcAft>
                <a:spcPts val="0"/>
              </a:spcAft>
            </a:pPr>
            <a:r>
              <a:rPr sz="1600" b="1" i="0">
                <a:solidFill>
                  <a:srgbClr val="76B82A"/>
                </a:solidFill>
                <a:latin typeface="Arial"/>
              </a:rPr>
              <a:t>🟢  4  COMPLETO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24447" y="2011680"/>
            <a:ext cx="5120640" cy="3840480"/>
          </a:xfrm>
          <a:prstGeom prst="roundRect">
            <a:avLst/>
          </a:prstGeom>
          <a:solidFill>
            <a:srgbClr val="F5F5F5"/>
          </a:solidFill>
          <a:ln w="25400">
            <a:solidFill>
              <a:srgbClr val="76B8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6324447" y="2011680"/>
            <a:ext cx="73152" cy="3840480"/>
          </a:xfrm>
          <a:prstGeom prst="rect">
            <a:avLst/>
          </a:prstGeom>
          <a:solidFill>
            <a:srgbClr val="76B8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644487" y="2286000"/>
            <a:ext cx="4480560" cy="32918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0">
                <a:solidFill>
                  <a:srgbClr val="1A1A1A"/>
                </a:solidFill>
                <a:latin typeface="Arial"/>
              </a:rPr>
              <a:t>▪ Roberto Neri (29 mag) — Invito riunione Teams
▪ Deskbooking (29 mag) — Check-in Reminder ×2
▪ Microsoft Outlook (28 mag) — Non recapitabile: Follow-up con Sofia Marchetti ×2
Vuoi che approfondisca per estrarre azioni?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24447" y="5961888"/>
            <a:ext cx="512064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>
                <a:solidFill>
                  <a:srgbClr val="76B82A"/>
                </a:solidFill>
                <a:latin typeface="Arial"/>
              </a:rPr>
              <a:t>🟢 Email filtrate con data, anteprima e azioni di follow-up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0" y="2560320"/>
            <a:ext cx="12191695" cy="82296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4000" b="1">
                <a:solidFill>
                  <a:srgbClr val="76B82A"/>
                </a:solidFill>
                <a:latin typeface="Arial Black"/>
              </a:rPr>
              <a:t>PROMPT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28800" y="3657600"/>
            <a:ext cx="8503920" cy="13716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2000" b="0">
                <a:solidFill>
                  <a:srgbClr val="555555"/>
                </a:solidFill>
                <a:latin typeface="Arial"/>
              </a:rPr>
              <a:t>"Manda una email a s.marchetti@reply.it: digli che ho visto le sue domande sul progetto e ne parliamo alla prossima riunione."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0" y="457200"/>
            <a:ext cx="12191695" cy="54864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2400" b="1">
                <a:solidFill>
                  <a:srgbClr val="1A1A1A"/>
                </a:solidFill>
                <a:latin typeface="Arial Black"/>
              </a:rPr>
              <a:t>AGENTE 4 — AZIONE COMPLETATA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1005840"/>
            <a:ext cx="12191695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200" b="1">
                <a:solidFill>
                  <a:srgbClr val="555555"/>
                </a:solidFill>
                <a:latin typeface="Arial Black"/>
              </a:rPr>
              <a:t>CAPIRE + AGIRE = VALORE REALE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895447" y="1828800"/>
            <a:ext cx="6400800" cy="3474720"/>
          </a:xfrm>
          <a:prstGeom prst="roundRect">
            <a:avLst/>
          </a:prstGeom>
          <a:solidFill>
            <a:srgbClr val="F5F5F5"/>
          </a:solidFill>
          <a:ln w="25400">
            <a:solidFill>
              <a:srgbClr val="76B8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352647" y="2103120"/>
            <a:ext cx="5486400" cy="3017520"/>
          </a:xfrm>
          <a:prstGeom prst="rect">
            <a:avLst/>
          </a:prstGeom>
          <a:noFill/>
        </p:spPr>
        <p:txBody>
          <a:bodyPr wrap="square"/>
          <a:lstStyle/>
          <a:p>
            <a:pPr>
              <a:spcAft>
                <a:spcPts val="0"/>
              </a:spcAft>
            </a:pPr>
            <a:endParaRPr/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700" b="1" i="0">
                <a:solidFill>
                  <a:srgbClr val="76B82A"/>
                </a:solidFill>
                <a:latin typeface="Arial"/>
              </a:rPr>
              <a:t>📨 A: s.marchetti@reply.it</a:t>
            </a:r>
          </a:p>
          <a:p>
            <a:pPr algn="l">
              <a:spcBef>
                <a:spcPts val="0"/>
              </a:spcBef>
              <a:spcAft>
                <a:spcPts val="2000"/>
              </a:spcAft>
            </a:pPr>
            <a:r>
              <a:rPr sz="1300" b="0" i="1">
                <a:solidFill>
                  <a:srgbClr val="555555"/>
                </a:solidFill>
                <a:latin typeface="Arial"/>
              </a:rPr>
              <a:t>Oggetto: "Discussione delle domande sul progetto"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400" b="0" i="0">
                <a:solidFill>
                  <a:srgbClr val="1A1A1A"/>
                </a:solidFill>
                <a:latin typeface="Arial"/>
              </a:rPr>
              <a:t>Ciao Sofia,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400" b="0" i="0">
                <a:solidFill>
                  <a:srgbClr val="1A1A1A"/>
                </a:solidFill>
                <a:latin typeface="Arial"/>
              </a:rPr>
              <a:t>ho visto le tue domande sul progetto.</a:t>
            </a:r>
          </a:p>
          <a:p>
            <a:pPr algn="l">
              <a:spcBef>
                <a:spcPts val="0"/>
              </a:spcBef>
              <a:spcAft>
                <a:spcPts val="2000"/>
              </a:spcAft>
            </a:pPr>
            <a:r>
              <a:rPr sz="1400" b="0" i="0">
                <a:solidFill>
                  <a:srgbClr val="1A1A1A"/>
                </a:solidFill>
                <a:latin typeface="Arial"/>
              </a:rPr>
              <a:t>Ne parleremo nella prossima riunione.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76B82A"/>
                </a:solidFill>
                <a:latin typeface="Arial"/>
              </a:rPr>
              <a:t>✅ Email inviata con successo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0" y="5760720"/>
            <a:ext cx="8503920" cy="64008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300" b="0">
                <a:solidFill>
                  <a:srgbClr val="555555"/>
                </a:solidFill>
                <a:latin typeface="Arial"/>
              </a:rPr>
              <a:t>L'agente ha compreso il contesto dalla conversazione, formulato un messaggio appropriato e inviato l'email — tutto in un unico passaggio.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0" y="457200"/>
            <a:ext cx="12191695" cy="54864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2400" b="1">
                <a:solidFill>
                  <a:srgbClr val="1A1A1A"/>
                </a:solidFill>
                <a:latin typeface="Arial Black"/>
              </a:rPr>
              <a:t>RIEPILOGO COMPARATIVO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1005840"/>
            <a:ext cx="12191695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200" b="1">
                <a:solidFill>
                  <a:srgbClr val="555555"/>
                </a:solidFill>
                <a:latin typeface="Arial Black"/>
              </a:rPr>
              <a:t>CAPIRE · AGIRE · FONTI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1295247" y="2286000"/>
          <a:ext cx="9601200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315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2918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85216"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Arial Black"/>
                        </a:rPr>
                        <a:t>#</a:t>
                      </a:r>
                    </a:p>
                  </a:txBody>
                  <a:tcPr anchor="ctr">
                    <a:solidFill>
                      <a:srgbClr val="76B82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Arial Black"/>
                        </a:rPr>
                        <a:t>Livello</a:t>
                      </a:r>
                    </a:p>
                  </a:txBody>
                  <a:tcPr anchor="ctr">
                    <a:solidFill>
                      <a:srgbClr val="76B82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Arial Black"/>
                        </a:rPr>
                        <a:t>Capisce</a:t>
                      </a:r>
                    </a:p>
                  </a:txBody>
                  <a:tcPr anchor="ctr">
                    <a:solidFill>
                      <a:srgbClr val="76B82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Arial Black"/>
                        </a:rPr>
                        <a:t>Agisce</a:t>
                      </a:r>
                    </a:p>
                  </a:txBody>
                  <a:tcPr anchor="ctr">
                    <a:solidFill>
                      <a:srgbClr val="76B8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Arial Black"/>
                        </a:rPr>
                        <a:t>Fonti dati</a:t>
                      </a:r>
                    </a:p>
                  </a:txBody>
                  <a:tcPr anchor="ctr">
                    <a:solidFill>
                      <a:srgbClr val="76B8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85216"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latin typeface="Arial"/>
                        </a:rPr>
                        <a:t>🔴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latin typeface="Arial"/>
                        </a:rPr>
                        <a:t>Base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latin typeface="Arial"/>
                        </a:rPr>
                        <a:t>❌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latin typeface="Arial"/>
                        </a:rPr>
                        <a:t>❌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latin typeface="Arial"/>
                        </a:rPr>
                        <a:t>Nessuna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85216"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latin typeface="Arial"/>
                        </a:rPr>
                        <a:t>🟡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latin typeface="Arial"/>
                        </a:rPr>
                        <a:t>Connessioni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latin typeface="Arial"/>
                        </a:rPr>
                        <a:t>Parziale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latin typeface="Arial"/>
                        </a:rPr>
                        <a:t>✅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latin typeface="Arial"/>
                        </a:rPr>
                        <a:t>Mail, Calendar, User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85216"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latin typeface="Arial"/>
                        </a:rPr>
                        <a:t>🟣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latin typeface="Arial"/>
                        </a:rPr>
                        <a:t>Work IQ Copilot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latin typeface="Arial"/>
                        </a:rPr>
                        <a:t>✅✅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latin typeface="Arial"/>
                        </a:rPr>
                        <a:t>❌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latin typeface="Arial"/>
                        </a:rPr>
                        <a:t>Semantic Index, Memory, M365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85216"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latin typeface="Arial"/>
                        </a:rPr>
                        <a:t>🟢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latin typeface="Arial"/>
                        </a:rPr>
                        <a:t>Completo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latin typeface="Arial"/>
                        </a:rPr>
                        <a:t>✅✅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latin typeface="Arial"/>
                        </a:rPr>
                        <a:t>✅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latin typeface="Arial"/>
                        </a:rPr>
                        <a:t>Tutto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0" y="457200"/>
            <a:ext cx="12191695" cy="54864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2400" b="1">
                <a:solidFill>
                  <a:srgbClr val="1A1A1A"/>
                </a:solidFill>
                <a:latin typeface="Arial Black"/>
              </a:rPr>
              <a:t>MESSAGGI CHIAVE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1005840"/>
            <a:ext cx="12191695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200" b="1">
                <a:solidFill>
                  <a:srgbClr val="555555"/>
                </a:solidFill>
                <a:latin typeface="Arial Black"/>
              </a:rPr>
              <a:t> 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38047" y="1211580"/>
            <a:ext cx="5029200" cy="1508760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58087" y="1394460"/>
            <a:ext cx="4389120" cy="1234440"/>
          </a:xfrm>
          <a:prstGeom prst="rect">
            <a:avLst/>
          </a:prstGeom>
          <a:noFill/>
        </p:spPr>
        <p:txBody>
          <a:bodyPr wrap="square"/>
          <a:lstStyle/>
          <a:p>
            <a:pPr>
              <a:spcAft>
                <a:spcPts val="0"/>
              </a:spcAft>
            </a:pPr>
            <a:endParaRPr/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100" b="1" i="0">
                <a:solidFill>
                  <a:srgbClr val="76B82A"/>
                </a:solidFill>
                <a:latin typeface="Arial Black"/>
              </a:rPr>
              <a:t>Senza contesto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1A1A1A"/>
                </a:solidFill>
                <a:latin typeface="Arial"/>
              </a:rPr>
              <a:t>Un LLM generico non serve in azienda. È intelligente ma cieco.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1">
                <a:solidFill>
                  <a:srgbClr val="555555"/>
                </a:solidFill>
                <a:latin typeface="Arial"/>
              </a:rPr>
              <a:t>"Non risultano informazioni…"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324447" y="1211580"/>
            <a:ext cx="5029200" cy="1508760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644487" y="1394460"/>
            <a:ext cx="4389120" cy="1234440"/>
          </a:xfrm>
          <a:prstGeom prst="rect">
            <a:avLst/>
          </a:prstGeom>
          <a:noFill/>
        </p:spPr>
        <p:txBody>
          <a:bodyPr wrap="square"/>
          <a:lstStyle/>
          <a:p>
            <a:pPr>
              <a:spcAft>
                <a:spcPts val="0"/>
              </a:spcAft>
            </a:pPr>
            <a:endParaRPr/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100" b="1" i="0">
                <a:solidFill>
                  <a:srgbClr val="76B82A"/>
                </a:solidFill>
                <a:latin typeface="Arial Black"/>
              </a:rPr>
              <a:t>Connessioni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1A1A1A"/>
                </a:solidFill>
                <a:latin typeface="Arial"/>
              </a:rPr>
              <a:t>Con le API vede le tue app e fa cose. Ma cerca per keyword, non capisce il contesto.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1">
                <a:solidFill>
                  <a:srgbClr val="555555"/>
                </a:solidFill>
                <a:latin typeface="Arial"/>
              </a:rPr>
              <a:t>"Ecco i dettagli della tua riunione"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38047" y="2948940"/>
            <a:ext cx="5029200" cy="1508760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158087" y="3131820"/>
            <a:ext cx="4389120" cy="1234440"/>
          </a:xfrm>
          <a:prstGeom prst="rect">
            <a:avLst/>
          </a:prstGeom>
          <a:noFill/>
        </p:spPr>
        <p:txBody>
          <a:bodyPr wrap="square"/>
          <a:lstStyle/>
          <a:p>
            <a:pPr>
              <a:spcAft>
                <a:spcPts val="0"/>
              </a:spcAft>
            </a:pPr>
            <a:endParaRPr/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100" b="1" i="0">
                <a:solidFill>
                  <a:srgbClr val="76B82A"/>
                </a:solidFill>
                <a:latin typeface="Arial Black"/>
              </a:rPr>
              <a:t>Semantic Index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1A1A1A"/>
                </a:solidFill>
                <a:latin typeface="Arial"/>
              </a:rPr>
              <a:t>Il semantic index connette i puntini nel tempo. Analisi strutturata e proattiva.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1">
                <a:solidFill>
                  <a:srgbClr val="555555"/>
                </a:solidFill>
                <a:latin typeface="Arial"/>
              </a:rPr>
              <a:t>"Preparati su rischi e dipendenze"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24447" y="2948940"/>
            <a:ext cx="5029200" cy="1508760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644487" y="3131820"/>
            <a:ext cx="4389120" cy="1234440"/>
          </a:xfrm>
          <a:prstGeom prst="rect">
            <a:avLst/>
          </a:prstGeom>
          <a:noFill/>
        </p:spPr>
        <p:txBody>
          <a:bodyPr wrap="square"/>
          <a:lstStyle/>
          <a:p>
            <a:pPr>
              <a:spcAft>
                <a:spcPts val="0"/>
              </a:spcAft>
            </a:pPr>
            <a:endParaRPr/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100" b="1" i="0">
                <a:solidFill>
                  <a:srgbClr val="76B82A"/>
                </a:solidFill>
                <a:latin typeface="Arial Black"/>
              </a:rPr>
              <a:t>Completo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1A1A1A"/>
                </a:solidFill>
                <a:latin typeface="Arial"/>
              </a:rPr>
              <a:t>Capire + Agire = valore reale. Ha inviato l'email.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1">
                <a:solidFill>
                  <a:srgbClr val="555555"/>
                </a:solidFill>
                <a:latin typeface="Arial"/>
              </a:rPr>
              <a:t>"Email inviata con successo ✅"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38047" y="4686300"/>
            <a:ext cx="5029200" cy="1508760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158087" y="4869180"/>
            <a:ext cx="4389120" cy="1234440"/>
          </a:xfrm>
          <a:prstGeom prst="rect">
            <a:avLst/>
          </a:prstGeom>
          <a:noFill/>
        </p:spPr>
        <p:txBody>
          <a:bodyPr wrap="square"/>
          <a:lstStyle/>
          <a:p>
            <a:pPr>
              <a:spcAft>
                <a:spcPts val="0"/>
              </a:spcAft>
            </a:pPr>
            <a:endParaRPr/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100" b="1" i="0">
                <a:solidFill>
                  <a:srgbClr val="76B82A"/>
                </a:solidFill>
                <a:latin typeface="Arial Black"/>
              </a:rPr>
              <a:t>Governance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1A1A1A"/>
                </a:solidFill>
                <a:latin typeface="Arial"/>
              </a:rPr>
              <a:t>Ogni tool è controllabile dall'admin center. Ogni chiamata è tracciabile.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324447" y="4686300"/>
            <a:ext cx="5029200" cy="1508760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644487" y="4869180"/>
            <a:ext cx="4389120" cy="1234440"/>
          </a:xfrm>
          <a:prstGeom prst="rect">
            <a:avLst/>
          </a:prstGeom>
          <a:noFill/>
        </p:spPr>
        <p:txBody>
          <a:bodyPr wrap="square"/>
          <a:lstStyle/>
          <a:p>
            <a:pPr>
              <a:spcAft>
                <a:spcPts val="0"/>
              </a:spcAft>
            </a:pPr>
            <a:endParaRPr/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100" b="1" i="0">
                <a:solidFill>
                  <a:srgbClr val="76B82A"/>
                </a:solidFill>
                <a:latin typeface="Arial Black"/>
              </a:rPr>
              <a:t>MCP Standard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1A1A1A"/>
                </a:solidFill>
                <a:latin typeface="Arial"/>
              </a:rPr>
              <a:t>Domani aggiungi SharePoint, Dynamics, i tuoi sistemi custom. Protocollo aperto.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2D6A2E"/>
            </a:gs>
            <a:gs pos="100000">
              <a:srgbClr val="76B82A"/>
            </a:gs>
          </a:gsLst>
          <a:lin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0" y="2468880"/>
            <a:ext cx="12191695" cy="13716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6400" b="1">
                <a:solidFill>
                  <a:srgbClr val="FFFFFF"/>
                </a:solidFill>
                <a:latin typeface="Arial Black"/>
              </a:rPr>
              <a:t>THANK YOU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4114800"/>
            <a:ext cx="12191695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endParaRPr sz="1800" b="0" dirty="0">
              <a:solidFill>
                <a:srgbClr val="BBDDBB"/>
              </a:solidFill>
              <a:latin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993</Words>
  <Application>Microsoft Macintosh PowerPoint</Application>
  <PresentationFormat>Widescreen</PresentationFormat>
  <Paragraphs>134</Paragraphs>
  <Slides>16</Slides>
  <Notes>0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3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16</vt:i4>
      </vt:variant>
    </vt:vector>
  </HeadingPairs>
  <TitlesOfParts>
    <vt:vector size="20" baseType="lpstr">
      <vt:lpstr>Arial</vt:lpstr>
      <vt:lpstr>Arial Black</vt:lpstr>
      <vt:lpstr>Calibri</vt:lpstr>
      <vt:lpstr>Office Theme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Alessandro Penco</cp:lastModifiedBy>
  <cp:revision>2</cp:revision>
  <dcterms:created xsi:type="dcterms:W3CDTF">2013-01-27T09:14:16Z</dcterms:created>
  <dcterms:modified xsi:type="dcterms:W3CDTF">2026-06-01T10:55:31Z</dcterms:modified>
  <cp:category/>
</cp:coreProperties>
</file>